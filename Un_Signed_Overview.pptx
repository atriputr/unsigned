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2191695" cy="45720"/>
          </a:xfrm>
          <a:prstGeom prst="rect">
            <a:avLst/>
          </a:prstGeom>
          <a:solidFill>
            <a:srgbClr val="E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E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3333"/>
                </a:solidFill>
                <a:latin typeface="Calibri"/>
              </a:rPr>
              <a:t>A PERSONAL ANALYTICS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E6E6E6"/>
                </a:solidFill>
                <a:latin typeface="Calibri"/>
              </a:rPr>
              <a:t>UN_SIGNED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B0B0B0"/>
                </a:solidFill>
                <a:latin typeface="Calibri"/>
              </a:rPr>
              <a:t>Health · Productivity · Learning — in one gesture-driven,</a:t>
            </a:r>
          </a:p>
          <a:p>
            <a:pPr algn="l"/>
            <a:r>
              <a:rPr sz="2200" b="0" i="1">
                <a:solidFill>
                  <a:srgbClr val="B0B0B0"/>
                </a:solidFill>
                <a:latin typeface="Calibri"/>
              </a:rPr>
              <a:t>offline-first, 19-language Android app.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88888"/>
                </a:solidFill>
                <a:latin typeface="Calibri"/>
              </a:rPr>
              <a:t>com.example.un_signed  ·  Android  ·  Kotlin + Compose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3333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1">
                <a:solidFill>
                  <a:srgbClr val="E6E6E6"/>
                </a:solidFill>
                <a:latin typeface="Calibri"/>
              </a:rPr>
              <a:t>A local-only, offline-first, gesture-driven personal-analytics dashboard that turns your daily health, learning, and productivity data into evidence-cited insights across three themed skins and 19 languages — with no account, no cloud, and no telemetry.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852160"/>
            <a:ext cx="1097280" cy="36576"/>
          </a:xfrm>
          <a:prstGeom prst="rect">
            <a:avLst/>
          </a:prstGeom>
          <a:solidFill>
            <a:srgbClr val="E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88888"/>
                </a:solidFill>
                <a:latin typeface="Calibri"/>
              </a:rPr>
              <a:t>com.example.un_signed  ·  Android  ·  Kotlin + Jetpack Compose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UN_SIGNED  ·  OFFLINE-FIRST HEALTH &amp; PRODUCTIVITY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37160" cy="548640"/>
          </a:xfrm>
          <a:prstGeom prst="rect">
            <a:avLst/>
          </a:prstGeom>
          <a:solidFill>
            <a:srgbClr val="E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6E6E6"/>
                </a:solidFill>
                <a:latin typeface="Calibri"/>
              </a:rPr>
              <a:t>What it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3333"/>
                </a:solidFill>
                <a:latin typeface="Calibri"/>
              </a:rPr>
              <a:t>THREE PILLARS · ONE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828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UN_SIGNED  ·  OFFLINE-FIRST HEALTH &amp; PRODUCTIVITY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Calibr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3657600" cy="42062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3657600" cy="73152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3333"/>
                </a:solidFill>
                <a:latin typeface="Calibri"/>
              </a:rPr>
              <a:t>HEALTH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34640"/>
            <a:ext cx="329184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E6E6E6"/>
                </a:solidFill>
                <a:latin typeface="Calibri"/>
              </a:rPr>
              <a:t>Water, Sleep, Junk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E6E6E6"/>
                </a:solidFill>
                <a:latin typeface="Calibri"/>
              </a:rPr>
              <a:t>(Open Food Facts),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E6E6E6"/>
                </a:solidFill>
                <a:latin typeface="Calibri"/>
              </a:rPr>
              <a:t>Exercise, Meds, Weight,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E6E6E6"/>
                </a:solidFill>
                <a:latin typeface="Calibri"/>
              </a:rPr>
              <a:t>Steps (Health Connect).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3657600" cy="42062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828800"/>
            <a:ext cx="3657600" cy="73152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194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8A00"/>
                </a:solidFill>
                <a:latin typeface="Calibri"/>
              </a:rPr>
              <a:t>PRODUCTIVITY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834640"/>
            <a:ext cx="329184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E6E6E6"/>
                </a:solidFill>
                <a:latin typeface="Calibri"/>
              </a:rPr>
              <a:t>Lectures, Subjects,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E6E6E6"/>
                </a:solidFill>
                <a:latin typeface="Calibri"/>
              </a:rPr>
              <a:t>Courses, Practices,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E6E6E6"/>
                </a:solidFill>
                <a:latin typeface="Calibri"/>
              </a:rPr>
              <a:t>Skills, Focus (Pomodoro),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E6E6E6"/>
                </a:solidFill>
                <a:latin typeface="Calibri"/>
              </a:rPr>
              <a:t>Habits, Calendar.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828800"/>
            <a:ext cx="3657600" cy="42062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828800"/>
            <a:ext cx="3657600" cy="73152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194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B454"/>
                </a:solidFill>
                <a:latin typeface="Calibri"/>
              </a:rPr>
              <a:t>BENCHMARKING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834640"/>
            <a:ext cx="329184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E6E6E6"/>
                </a:solidFill>
                <a:latin typeface="Calibri"/>
              </a:rPr>
              <a:t>You vs. global norms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E6E6E6"/>
                </a:solidFill>
                <a:latin typeface="Calibri"/>
              </a:rPr>
              <a:t>(WHO, EFSA, Lancet).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E6E6E6"/>
                </a:solidFill>
                <a:latin typeface="Calibri"/>
              </a:rPr>
              <a:t>Evidence-cited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E6E6E6"/>
                </a:solidFill>
                <a:latin typeface="Calibri"/>
              </a:rPr>
              <a:t>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37160" cy="548640"/>
          </a:xfrm>
          <a:prstGeom prst="rect">
            <a:avLst/>
          </a:prstGeom>
          <a:solidFill>
            <a:srgbClr val="E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6E6E6"/>
                </a:solidFill>
                <a:latin typeface="Calibri"/>
              </a:rPr>
              <a:t>The Home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3333"/>
                </a:solidFill>
                <a:latin typeface="Calibri"/>
              </a:rPr>
              <a:t>SINGLE ACTIVITY · EVERYTHING ELSE IS AN OVERLAY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828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UN_SIGNED  ·  OFFLINE-FIRST HEALTH &amp; PRODUCTIVITY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3333"/>
                </a:solidFill>
                <a:latin typeface="Calibri"/>
              </a:rPr>
              <a:t>The three doors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59436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500">
                <a:solidFill>
                  <a:srgbClr val="E6E6E6"/>
                </a:solidFill>
                <a:latin typeface="Calibri"/>
              </a:rPr>
              <a:t>IDEAL PROFILE  —  the main hub with 9 modules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500">
                <a:solidFill>
                  <a:srgbClr val="E6E6E6"/>
                </a:solidFill>
                <a:latin typeface="Calibri"/>
              </a:rPr>
              <a:t>CUSTOM PROFILE  —  named routines (duration + type)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500">
                <a:solidFill>
                  <a:srgbClr val="E6E6E6"/>
                </a:solidFill>
                <a:latin typeface="Calibri"/>
              </a:rPr>
              <a:t>EXPORT PROGRESS  —  CSV, JSON, or a PPTX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3333"/>
                </a:solidFill>
                <a:latin typeface="Calibri"/>
              </a:rPr>
              <a:t>Bottom quick-action bar (gestures only)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34840"/>
            <a:ext cx="59436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400">
                <a:solidFill>
                  <a:srgbClr val="E6E6E6"/>
                </a:solidFill>
                <a:latin typeface="Calibri"/>
              </a:rPr>
              <a:t>SLEEP  —  hold 3s to start · double-tap to end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400">
                <a:solidFill>
                  <a:srgbClr val="E6E6E6"/>
                </a:solidFill>
                <a:latin typeface="Calibri"/>
              </a:rPr>
              <a:t>JUNK  —  tap −1, double-tap +1, hold 3s = log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400">
                <a:solidFill>
                  <a:srgbClr val="E6E6E6"/>
                </a:solidFill>
                <a:latin typeface="Calibri"/>
              </a:rPr>
              <a:t>WATER —  tap −1, double-tap +1, hold 3s = reset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7373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3333"/>
                </a:solidFill>
                <a:latin typeface="Calibri"/>
              </a:rPr>
              <a:t>Also on screen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148840"/>
            <a:ext cx="47548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500">
                <a:solidFill>
                  <a:srgbClr val="E6E6E6"/>
                </a:solidFill>
                <a:latin typeface="Calibri"/>
              </a:rPr>
              <a:t>Live clock (Jersey 10 Charted font)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500">
                <a:solidFill>
                  <a:srgbClr val="E6E6E6"/>
                </a:solidFill>
                <a:latin typeface="Calibri"/>
              </a:rPr>
              <a:t>Year-progress bar with % elapsed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500">
                <a:solidFill>
                  <a:srgbClr val="E6E6E6"/>
                </a:solidFill>
                <a:latin typeface="Calibri"/>
              </a:rPr>
              <a:t>Upcoming events feed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500">
                <a:solidFill>
                  <a:srgbClr val="E6E6E6"/>
                </a:solidFill>
                <a:latin typeface="Calibri"/>
              </a:rPr>
              <a:t>Active-lecture banner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500">
                <a:solidFill>
                  <a:srgbClr val="E6E6E6"/>
                </a:solidFill>
                <a:latin typeface="Calibri"/>
              </a:rPr>
              <a:t>Weather-aware hydration hints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500">
                <a:solidFill>
                  <a:srgbClr val="E6E6E6"/>
                </a:solidFill>
                <a:latin typeface="Calibri"/>
              </a:rPr>
              <a:t>Haptic tick / click / success on every 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37160" cy="548640"/>
          </a:xfrm>
          <a:prstGeom prst="rect">
            <a:avLst/>
          </a:prstGeom>
          <a:solidFill>
            <a:srgbClr val="E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6E6E6"/>
                </a:solidFill>
                <a:latin typeface="Calibri"/>
              </a:rPr>
              <a:t>Health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3333"/>
                </a:solidFill>
                <a:latin typeface="Calibri"/>
              </a:rPr>
              <a:t>SIX MODULES · EVIDENCE-CITED · WEATHER-AWARE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828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UN_SIGNED  ·  OFFLINE-FIRST HEALTH &amp; PRODUCTIVITY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3333"/>
                </a:solidFill>
                <a:latin typeface="Calibri"/>
              </a:rPr>
              <a:t>WATER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8288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6E6E6"/>
                </a:solidFill>
                <a:latin typeface="Calibri"/>
              </a:rPr>
              <a:t>Glasses logged; custom glass mL; goal auto-computed from body weight + local temperature.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5059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3333"/>
                </a:solidFill>
                <a:latin typeface="Calibri"/>
              </a:rPr>
              <a:t>SLEEP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450592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6E6E6"/>
                </a:solidFill>
                <a:latin typeface="Calibri"/>
              </a:rPr>
              <a:t>Bedtime, wake time, quality 1–5, disturbance count; hours computed. Session survives app kill.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72384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3333"/>
                </a:solidFill>
                <a:latin typeface="Calibri"/>
              </a:rPr>
              <a:t>JUNK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072384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6E6E6"/>
                </a:solidFill>
                <a:latin typeface="Calibri"/>
              </a:rPr>
              <a:t>Full Open Food Facts search (country-filtered, LRU-cached); Nutri-Score, NOVA, kcal, sugar, sat fat, salt, additives.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94176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3333"/>
                </a:solidFill>
                <a:latin typeface="Calibri"/>
              </a:rPr>
              <a:t>EXERCISE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694176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6E6E6"/>
                </a:solidFill>
                <a:latin typeface="Calibri"/>
              </a:rPr>
              <a:t>Activity type, minutes, intensity, notes.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1596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3333"/>
                </a:solidFill>
                <a:latin typeface="Calibri"/>
              </a:rPr>
              <a:t>MEDS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4315968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6E6E6"/>
                </a:solidFill>
                <a:latin typeface="Calibri"/>
              </a:rPr>
              <a:t>Meds / Supplements / Severe / Diet log — free-form with 0–10 severity.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377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3333"/>
                </a:solidFill>
                <a:latin typeface="Calibri"/>
              </a:rPr>
              <a:t>WEIGHT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9377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6E6E6"/>
                </a:solidFill>
                <a:latin typeface="Calibri"/>
              </a:rPr>
              <a:t>Date + kg/lb with historical view.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5955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3333"/>
                </a:solidFill>
                <a:latin typeface="Calibri"/>
              </a:rPr>
              <a:t>STEPS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5559552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6E6E6"/>
                </a:solidFill>
                <a:latin typeface="Calibri"/>
              </a:rPr>
              <a:t>Via Health Connect; graceful fallback to device step-sensor if unavailable.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37160" cy="548640"/>
          </a:xfrm>
          <a:prstGeom prst="rect">
            <a:avLst/>
          </a:prstGeom>
          <a:solidFill>
            <a:srgbClr val="E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6E6E6"/>
                </a:solidFill>
                <a:latin typeface="Calibri"/>
              </a:rPr>
              <a:t>Productivity &amp;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3333"/>
                </a:solidFill>
                <a:latin typeface="Calibri"/>
              </a:rPr>
              <a:t>STUDY  ·  FOCUS  ·  ROUTINE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828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UN_SIGNED  ·  OFFLINE-FIRST HEALTH &amp; PRODUCTIVITY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8A00"/>
                </a:solidFill>
                <a:latin typeface="Calibri"/>
              </a:rPr>
              <a:t>LECTURES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8288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6E6E6"/>
                </a:solidFill>
                <a:latin typeface="Calibri"/>
              </a:rPr>
              <a:t>Named topics, checkable, progress bar; drives a 'YOU HAVE A LECTURE' home banner.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774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8A00"/>
                </a:solidFill>
                <a:latin typeface="Calibri"/>
              </a:rPr>
              <a:t>SUBJECTS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37744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6E6E6"/>
                </a:solidFill>
                <a:latin typeface="Calibri"/>
              </a:rPr>
              <a:t>Chapter checklists, durations, repeat schedules.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260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8A00"/>
                </a:solidFill>
                <a:latin typeface="Calibri"/>
              </a:rPr>
              <a:t>COURSES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9260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6E6E6"/>
                </a:solidFill>
                <a:latin typeface="Calibri"/>
              </a:rPr>
              <a:t>Long-form learning tracks with the same chapter model.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747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8A00"/>
                </a:solidFill>
                <a:latin typeface="Calibri"/>
              </a:rPr>
              <a:t>PRACTICES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47472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6E6E6"/>
                </a:solidFill>
                <a:latin typeface="Calibri"/>
              </a:rPr>
              <a:t>Repeated practice sessions with calendar view.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233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8A00"/>
                </a:solidFill>
                <a:latin typeface="Calibri"/>
              </a:rPr>
              <a:t>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40233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6E6E6"/>
                </a:solidFill>
                <a:latin typeface="Calibri"/>
              </a:rPr>
              <a:t>Three tiers — Hobby / Minor / Major — with per-session history and total minutes.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8A00"/>
                </a:solidFill>
                <a:latin typeface="Calibri"/>
              </a:rPr>
              <a:t>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5720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6E6E6"/>
                </a:solidFill>
                <a:latin typeface="Calibri"/>
              </a:rPr>
              <a:t>Pomodoro (25/5) with cycle goals; state and elapsed time survive app kill.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1206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8A00"/>
                </a:solidFill>
                <a:latin typeface="Calibri"/>
              </a:rPr>
              <a:t>HABITS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512064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6E6E6"/>
                </a:solidFill>
                <a:latin typeface="Calibri"/>
              </a:rPr>
              <a:t>Simple named counters.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692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8A00"/>
                </a:solidFill>
                <a:latin typeface="Calibri"/>
              </a:rPr>
              <a:t>CALENDAR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56692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6E6E6"/>
                </a:solidFill>
                <a:latin typeface="Calibri"/>
              </a:rPr>
              <a:t>Tasks with time + colour; syncs to Android Calendar + Alarm; internal reminder chain.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37160" cy="548640"/>
          </a:xfrm>
          <a:prstGeom prst="rect">
            <a:avLst/>
          </a:prstGeom>
          <a:solidFill>
            <a:srgbClr val="E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6E6E6"/>
                </a:solidFill>
                <a:latin typeface="Calibri"/>
              </a:rPr>
              <a:t>Analytics &amp;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3333"/>
                </a:solidFill>
                <a:latin typeface="Calibri"/>
              </a:rPr>
              <a:t>YOUR NUMBERS vs. THE WORLD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828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UN_SIGNED  ·  OFFLINE-FIRST HEALTH &amp; PRODUCTIVITY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3333"/>
                </a:solidFill>
                <a:latin typeface="Calibri"/>
              </a:rPr>
              <a:t>Global norms with citations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5486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400">
                <a:solidFill>
                  <a:srgbClr val="E6E6E6"/>
                </a:solidFill>
                <a:latin typeface="Calibri"/>
              </a:rPr>
              <a:t>WHO — weekly exercise targets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400">
                <a:solidFill>
                  <a:srgbClr val="E6E6E6"/>
                </a:solidFill>
                <a:latin typeface="Calibri"/>
              </a:rPr>
              <a:t>EFSA — hydration baseline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400">
                <a:solidFill>
                  <a:srgbClr val="E6E6E6"/>
                </a:solidFill>
                <a:latin typeface="Calibri"/>
              </a:rPr>
              <a:t>IOM — age-banded sleep hours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400">
                <a:solidFill>
                  <a:srgbClr val="E6E6E6"/>
                </a:solidFill>
                <a:latin typeface="Calibri"/>
              </a:rPr>
              <a:t>Paluch et al. — steps meta-analysis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400">
                <a:solidFill>
                  <a:srgbClr val="E6E6E6"/>
                </a:solidFill>
                <a:latin typeface="Calibri"/>
              </a:rPr>
              <a:t>BMI bands (WHO / ADA / regional)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3333"/>
                </a:solidFill>
                <a:latin typeface="Calibri"/>
              </a:rPr>
              <a:t>Four engines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40280"/>
            <a:ext cx="53035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400">
                <a:solidFill>
                  <a:srgbClr val="E6E6E6"/>
                </a:solidFill>
                <a:latin typeface="Calibri"/>
              </a:rPr>
              <a:t>ComparisonEngine — percentile vs global norms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400">
                <a:solidFill>
                  <a:srgbClr val="E6E6E6"/>
                </a:solidFill>
                <a:latin typeface="Calibri"/>
              </a:rPr>
              <a:t>InsightsEngine — daily snapshot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400">
                <a:solidFill>
                  <a:srgbClr val="E6E6E6"/>
                </a:solidFill>
                <a:latin typeface="Calibri"/>
              </a:rPr>
              <a:t>RecommendationEngine — prioritised tips with sources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400">
                <a:solidFill>
                  <a:srgbClr val="E6E6E6"/>
                </a:solidFill>
                <a:latin typeface="Calibri"/>
              </a:rPr>
              <a:t>AnalyticsEngine — session, sync, completion stats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303520"/>
            <a:ext cx="11064240" cy="1828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440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8A00"/>
                </a:solidFill>
                <a:latin typeface="Calibri"/>
              </a:rPr>
              <a:t>OUTPUT SURFACES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0B0B0"/>
                </a:solidFill>
                <a:latin typeface="Calibri"/>
              </a:rPr>
              <a:t>Daily Briefing overlay  ·  Compare-to-Globe overlay  ·  Recommendations overlay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37160" cy="548640"/>
          </a:xfrm>
          <a:prstGeom prst="rect">
            <a:avLst/>
          </a:prstGeom>
          <a:solidFill>
            <a:srgbClr val="E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6E6E6"/>
                </a:solidFill>
                <a:latin typeface="Calibri"/>
              </a:rPr>
              <a:t>Three complete skins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3333"/>
                </a:solidFill>
                <a:latin typeface="Calibri"/>
              </a:rPr>
              <a:t>NOT PALETTES — WHOLE VISUAL IDENTITIES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828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UN_SIGNED  ·  OFFLINE-FIRST HEALTH &amp; PRODUCTIVITY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Calibri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1064240" cy="12801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37160" cy="128016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3333"/>
                </a:solidFill>
                <a:latin typeface="Calibri"/>
              </a:rPr>
              <a:t>DARK — ASHES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774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6E6E6"/>
                </a:solidFill>
                <a:latin typeface="Calibri"/>
              </a:rPr>
              <a:t>#000000 bg, ashen grey plates, red gaming borders (top+bottom). Forged-glass 'SELECT PROFILE' in Nokia Kokia.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91840"/>
            <a:ext cx="11064240" cy="12801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91840"/>
            <a:ext cx="137160" cy="1280160"/>
          </a:xfrm>
          <a:prstGeom prst="rect">
            <a:avLst/>
          </a:prstGeom>
          <a:solidFill>
            <a:srgbClr val="FF3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3B7C"/>
                </a:solidFill>
                <a:latin typeface="Calibri"/>
              </a:rPr>
              <a:t>CREAM — HELLO KITTY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6E6E6"/>
                </a:solidFill>
                <a:latin typeface="Calibri"/>
              </a:rPr>
              <a:t>#F7EFDD bg, pink accents, sparkle field, Canvas-drawn bow decoration and pink header ribbon.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754880"/>
            <a:ext cx="137160" cy="128016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92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B454"/>
                </a:solidFill>
                <a:latin typeface="Calibri"/>
              </a:rPr>
              <a:t>AMBER — LOKI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6E6E6"/>
                </a:solidFill>
                <a:latin typeface="Calibri"/>
              </a:rPr>
              <a:t>#14090A bg, gold #FFB454 accents, emerald secondary. Canvas-drawn horns + '— GLORIOUS PURPOSE —'.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37160" cy="548640"/>
          </a:xfrm>
          <a:prstGeom prst="rect">
            <a:avLst/>
          </a:prstGeom>
          <a:solidFill>
            <a:srgbClr val="E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6E6E6"/>
                </a:solidFill>
                <a:latin typeface="Calibri"/>
              </a:rPr>
              <a:t>Localization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3333"/>
                </a:solidFill>
                <a:latin typeface="Calibri"/>
              </a:rPr>
              <a:t>19 LANGUAGES · 8 INDIC NUMERAL SCRIPTS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828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UN_SIGNED  ·  OFFLINE-FIRST HEALTH &amp; PRODUCTIVITY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3333"/>
                </a:solidFill>
                <a:latin typeface="Calibri"/>
              </a:rPr>
              <a:t>Full translations (8)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5486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E6E6E6"/>
                </a:solidFill>
                <a:latin typeface="Calibri"/>
              </a:rPr>
              <a:t>English · Hindi · Bengali · Marathi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E6E6E6"/>
                </a:solidFill>
                <a:latin typeface="Calibri"/>
              </a:rPr>
              <a:t>Russian · Chinese · Japanese · French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3333"/>
                </a:solidFill>
                <a:latin typeface="Calibri"/>
              </a:rPr>
              <a:t>Numeral-only localization (6)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31920"/>
            <a:ext cx="5486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E6E6E6"/>
                </a:solidFill>
                <a:latin typeface="Calibri"/>
              </a:rPr>
              <a:t>Telugu · Tamil · Gujarati · Kannada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E6E6E6"/>
                </a:solidFill>
                <a:latin typeface="Calibri"/>
              </a:rPr>
              <a:t>Malayalam · Punjabi (Gurmukhi)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03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3333"/>
                </a:solidFill>
                <a:latin typeface="Calibri"/>
              </a:rPr>
              <a:t>Partial fallback (5)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6E6E6"/>
                </a:solidFill>
                <a:latin typeface="Calibri"/>
              </a:rPr>
              <a:t>German · Spanish · Italian · Portuguese · Dutch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8A00"/>
                </a:solidFill>
                <a:latin typeface="Calibri"/>
              </a:rPr>
              <a:t>Example numeral swaps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945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88888"/>
                </a:solidFill>
                <a:latin typeface="Calibri"/>
              </a:rPr>
              <a:t>HINDI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1945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6E6E6"/>
                </a:solidFill>
                <a:latin typeface="Consolas"/>
              </a:rPr>
              <a:t>12:34 → १२:३४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7860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88888"/>
                </a:solidFill>
                <a:latin typeface="Calibri"/>
              </a:rPr>
              <a:t>BENGALI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57860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6E6E6"/>
                </a:solidFill>
                <a:latin typeface="Consolas"/>
              </a:rPr>
              <a:t>12:34 → ১২:৩৪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6265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88888"/>
                </a:solidFill>
                <a:latin typeface="Calibri"/>
              </a:rPr>
              <a:t>TAMIL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96265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6E6E6"/>
                </a:solidFill>
                <a:latin typeface="Consolas"/>
              </a:rPr>
              <a:t>12:34 → ௧௨:௩௪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4670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88888"/>
                </a:solidFill>
                <a:latin typeface="Calibri"/>
              </a:rPr>
              <a:t>GUJARATI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34670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6E6E6"/>
                </a:solidFill>
                <a:latin typeface="Consolas"/>
              </a:rPr>
              <a:t>12:34 → ૧૨:૩૪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7307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88888"/>
                </a:solidFill>
                <a:latin typeface="Calibri"/>
              </a:rPr>
              <a:t>TELUGU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7307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6E6E6"/>
                </a:solidFill>
                <a:latin typeface="Consolas"/>
              </a:rPr>
              <a:t>12:34 → ౧౨:౩౪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1148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88888"/>
                </a:solidFill>
                <a:latin typeface="Calibri"/>
              </a:rPr>
              <a:t>KANNADA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114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6E6E6"/>
                </a:solidFill>
                <a:latin typeface="Consolas"/>
              </a:rPr>
              <a:t>12:34 → ೧೨:೩೪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49884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88888"/>
                </a:solidFill>
                <a:latin typeface="Calibri"/>
              </a:rPr>
              <a:t>MALAYALAM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4988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6E6E6"/>
                </a:solidFill>
                <a:latin typeface="Consolas"/>
              </a:rPr>
              <a:t>12:34 → ൧൨:൩൪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88289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88888"/>
                </a:solidFill>
                <a:latin typeface="Calibri"/>
              </a:rPr>
              <a:t>PUNJABI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88289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6E6E6"/>
                </a:solidFill>
                <a:latin typeface="Consolas"/>
              </a:rPr>
              <a:t>12:34 → ੧੨:੩੪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37160" cy="548640"/>
          </a:xfrm>
          <a:prstGeom prst="rect">
            <a:avLst/>
          </a:prstGeom>
          <a:solidFill>
            <a:srgbClr val="E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6E6E6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3333"/>
                </a:solidFill>
                <a:latin typeface="Calibri"/>
              </a:rPr>
              <a:t>SINGLE ACTIVITY · OVERLAYS · LOCAL JSON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828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UN_SIGNED  ·  OFFLINE-FIRST HEALTH &amp; PRODUCTIVITY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Calibr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3333"/>
                </a:solidFill>
                <a:latin typeface="Calibri"/>
              </a:rPr>
              <a:t>Runtime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56692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300">
                <a:solidFill>
                  <a:srgbClr val="E6E6E6"/>
                </a:solidFill>
                <a:latin typeface="Calibri"/>
              </a:rPr>
              <a:t>SplashActivity (1.5s) → ProfileSelectionActivity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300">
                <a:solidFill>
                  <a:srgbClr val="E6E6E6"/>
                </a:solidFill>
                <a:latin typeface="Calibri"/>
              </a:rPr>
              <a:t>All features open as Compose overlays — no new activities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300">
                <a:solidFill>
                  <a:srgbClr val="E6E6E6"/>
                </a:solidFill>
                <a:latin typeface="Calibri"/>
              </a:rPr>
              <a:t>Layout mixes XML with ComposeView islands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300">
                <a:solidFill>
                  <a:srgbClr val="E6E6E6"/>
                </a:solidFill>
                <a:latin typeface="Calibri"/>
              </a:rPr>
              <a:t>State in mutableStateOf/mutableStateListOf on the activity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300">
                <a:solidFill>
                  <a:srgbClr val="E6E6E6"/>
                </a:solidFill>
                <a:latin typeface="Calibri"/>
              </a:rPr>
              <a:t>applyThemeTint() re-renders home on state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3333"/>
                </a:solidFill>
                <a:latin typeface="Calibri"/>
              </a:rPr>
              <a:t>Persistence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40280"/>
            <a:ext cx="53035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300">
                <a:solidFill>
                  <a:srgbClr val="E6E6E6"/>
                </a:solidFill>
                <a:latin typeface="Calibri"/>
              </a:rPr>
              <a:t>FitDataRepository — Gson-serialised JSON files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300">
                <a:solidFill>
                  <a:srgbClr val="E6E6E6"/>
                </a:solidFill>
                <a:latin typeface="Calibri"/>
              </a:rPr>
              <a:t>FitnessDataRepository — Health Connect + step sensor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300">
                <a:solidFill>
                  <a:srgbClr val="E6E6E6"/>
                </a:solidFill>
                <a:latin typeface="Calibri"/>
              </a:rPr>
              <a:t>~25 JSON files under /fitdata/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300">
                <a:solidFill>
                  <a:srgbClr val="E6E6E6"/>
                </a:solidFill>
                <a:latin typeface="Calibri"/>
              </a:rPr>
              <a:t>No database, no ORM, no cloud, no auth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300">
                <a:solidFill>
                  <a:srgbClr val="E6E6E6"/>
                </a:solidFill>
                <a:latin typeface="Calibri"/>
              </a:rPr>
              <a:t>Timer/Stopwatch/Sleep/Focus survive app kill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37160" cy="548640"/>
          </a:xfrm>
          <a:prstGeom prst="rect">
            <a:avLst/>
          </a:prstGeom>
          <a:solidFill>
            <a:srgbClr val="E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6E6E6"/>
                </a:solidFill>
                <a:latin typeface="Calibri"/>
              </a:rPr>
              <a:t>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3333"/>
                </a:solidFill>
                <a:latin typeface="Calibri"/>
              </a:rPr>
              <a:t>20+ ENTITIES · ALL LOCAL · ALL GSON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828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UN_SIGNED  ·  OFFLINE-FIRST HEALTH &amp; PRODUCTIVITY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Calib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6692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100">
                <a:solidFill>
                  <a:srgbClr val="E6E6E6"/>
                </a:solidFill>
                <a:latin typeface="Calibri"/>
              </a:rPr>
              <a:t>UserProfile — computed BMI, BMR, TDEE, sleep target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100">
                <a:solidFill>
                  <a:srgbClr val="E6E6E6"/>
                </a:solidFill>
                <a:latin typeface="Calibri"/>
              </a:rPr>
              <a:t>AppPreferences — units, theme, lang, sync flags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100">
                <a:solidFill>
                  <a:srgbClr val="E6E6E6"/>
                </a:solidFill>
                <a:latin typeface="Calibri"/>
              </a:rPr>
              <a:t>CustomProfile — id, name, duration, type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100">
                <a:solidFill>
                  <a:srgbClr val="E6E6E6"/>
                </a:solidFill>
                <a:latin typeface="Calibri"/>
              </a:rPr>
              <a:t>WaterDailyLog — glasses, goal, weather-aware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100">
                <a:solidFill>
                  <a:srgbClr val="E6E6E6"/>
                </a:solidFill>
                <a:latin typeface="Calibri"/>
              </a:rPr>
              <a:t>SleepEntry / SleepSessionState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100">
                <a:solidFill>
                  <a:srgbClr val="E6E6E6"/>
                </a:solidFill>
                <a:latin typeface="Calibri"/>
              </a:rPr>
              <a:t>ExerciseEntry — activity, min, intensity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100">
                <a:solidFill>
                  <a:srgbClr val="E6E6E6"/>
                </a:solidFill>
                <a:latin typeface="Calibri"/>
              </a:rPr>
              <a:t>WeightEntry — date + kg/lb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100">
                <a:solidFill>
                  <a:srgbClr val="E6E6E6"/>
                </a:solidFill>
                <a:latin typeface="Calibri"/>
              </a:rPr>
              <a:t>LogEntry — meds/supp/severe/diet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100">
                <a:solidFill>
                  <a:srgbClr val="E6E6E6"/>
                </a:solidFill>
                <a:latin typeface="Calibri"/>
              </a:rPr>
              <a:t>JunkLogEntry — OFF product, Nutri-Score, NOVA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100">
                <a:solidFill>
                  <a:srgbClr val="E6E6E6"/>
                </a:solidFill>
                <a:latin typeface="Calibri"/>
              </a:rPr>
              <a:t>FitnessSample — steps,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3035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100">
                <a:solidFill>
                  <a:srgbClr val="E6E6E6"/>
                </a:solidFill>
                <a:latin typeface="Calibri"/>
              </a:rPr>
              <a:t>Subject / Chapter — study tracks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100">
                <a:solidFill>
                  <a:srgbClr val="E6E6E6"/>
                </a:solidFill>
                <a:latin typeface="Calibri"/>
              </a:rPr>
              <a:t>LectureTopic / LectureState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100">
                <a:solidFill>
                  <a:srgbClr val="E6E6E6"/>
                </a:solidFill>
                <a:latin typeface="Calibri"/>
              </a:rPr>
              <a:t>Habit — id, name, count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100">
                <a:solidFill>
                  <a:srgbClr val="E6E6E6"/>
                </a:solidFill>
                <a:latin typeface="Calibri"/>
              </a:rPr>
              <a:t>SkillItem / SkillSession — tiered skills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100">
                <a:solidFill>
                  <a:srgbClr val="E6E6E6"/>
                </a:solidFill>
                <a:latin typeface="Calibri"/>
              </a:rPr>
              <a:t>ActivitySession — cycling/yoga/walking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100">
                <a:solidFill>
                  <a:srgbClr val="E6E6E6"/>
                </a:solidFill>
                <a:latin typeface="Calibri"/>
              </a:rPr>
              <a:t>FocusSession / FocusTimerState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100">
                <a:solidFill>
                  <a:srgbClr val="E6E6E6"/>
                </a:solidFill>
                <a:latin typeface="Calibri"/>
              </a:rPr>
              <a:t>CalendarTask — sync flags for cal + alarm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100">
                <a:solidFill>
                  <a:srgbClr val="E6E6E6"/>
                </a:solidFill>
                <a:latin typeface="Calibri"/>
              </a:rPr>
              <a:t>TimerPersistedState / StopwatchPersistedState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100">
                <a:solidFill>
                  <a:srgbClr val="E6E6E6"/>
                </a:solidFill>
                <a:latin typeface="Calibri"/>
              </a:rPr>
              <a:t>AppSession — session bounds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100">
                <a:solidFill>
                  <a:srgbClr val="E6E6E6"/>
                </a:solidFill>
                <a:latin typeface="Calibri"/>
              </a:rPr>
              <a:t>WeatherData / OffProduct / UpdateInfo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37160" cy="548640"/>
          </a:xfrm>
          <a:prstGeom prst="rect">
            <a:avLst/>
          </a:prstGeom>
          <a:solidFill>
            <a:srgbClr val="E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6E6E6"/>
                </a:solidFill>
                <a:latin typeface="Calibri"/>
              </a:rPr>
              <a:t>Calendar &amp; reminders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3333"/>
                </a:solidFill>
                <a:latin typeface="Calibri"/>
              </a:rPr>
              <a:t>TASK IN, THREE PLACES 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828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UN_SIGNED  ·  OFFLINE-FIRST HEALTH &amp; PRODUCTIVITY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B0B0B0"/>
                </a:solidFill>
                <a:latin typeface="Calibri"/>
              </a:rPr>
              <a:t>One CalendarTask can fan out to three destinations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11064240" cy="10058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651760"/>
            <a:ext cx="137160" cy="100584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8A00"/>
                </a:solidFill>
                <a:latin typeface="Calibri"/>
              </a:rPr>
              <a:t>SYSTEM CALENDAR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546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6E6E6"/>
                </a:solidFill>
                <a:latin typeface="Calibri"/>
              </a:rPr>
              <a:t>SystemCalendarSync writes an event via CalendarContract; stores the eventId back on the task.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40480"/>
            <a:ext cx="11064240" cy="10058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840480"/>
            <a:ext cx="137160" cy="100584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77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3333"/>
                </a:solidFill>
                <a:latin typeface="Calibri"/>
              </a:rPr>
              <a:t>SYSTEM ALARM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434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6E6E6"/>
                </a:solidFill>
                <a:latin typeface="Calibri"/>
              </a:rPr>
              <a:t>SystemAlarmSync opens the phone's Alarm Clock app with prefilled hh:mm; marks systemAlarmSet.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029200"/>
            <a:ext cx="11064240" cy="10058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029200"/>
            <a:ext cx="137160" cy="100584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1663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B454"/>
                </a:solidFill>
                <a:latin typeface="Calibri"/>
              </a:rPr>
              <a:t>INTERNAL REMINDER CHAIN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321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6E6E6"/>
                </a:solidFill>
                <a:latin typeface="Calibri"/>
              </a:rPr>
              <a:t>TaskReminderScheduler + BroadcastReceiver — Pomodoro-style repeating pings at a configurable interval.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37160" cy="548640"/>
          </a:xfrm>
          <a:prstGeom prst="rect">
            <a:avLst/>
          </a:prstGeom>
          <a:solidFill>
            <a:srgbClr val="E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6E6E6"/>
                </a:solidFill>
                <a:latin typeface="Calibri"/>
              </a:rPr>
              <a:t>Non-obvious craftsmanship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3333"/>
                </a:solidFill>
                <a:latin typeface="Calibri"/>
              </a:rPr>
              <a:t>THINGS YOU DON'T SEE IN SIMILAR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828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UN_SIGNED  ·  OFFLINE-FIRST HEALTH &amp; PRODUCTIVITY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Calibr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300">
                <a:solidFill>
                  <a:srgbClr val="E6E6E6"/>
                </a:solidFill>
                <a:latin typeface="Calibri"/>
              </a:rPr>
              <a:t>PPTX generator from scratch — hand-crafted OOXML, avoids Apache POI's ~10 MB dep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300">
                <a:solidFill>
                  <a:srgbClr val="E6E6E6"/>
                </a:solidFill>
                <a:latin typeface="Calibri"/>
              </a:rPr>
              <a:t>Numeral localization for 8 Indic scripts — rare in consumer apps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300">
                <a:solidFill>
                  <a:srgbClr val="E6E6E6"/>
                </a:solidFill>
                <a:latin typeface="Calibri"/>
              </a:rPr>
              <a:t>Timer / Stopwatch / Sleep / Focus survive app kill via savedAtEpochMs replay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300">
                <a:solidFill>
                  <a:srgbClr val="E6E6E6"/>
                </a:solidFill>
                <a:latin typeface="Calibri"/>
              </a:rPr>
              <a:t>Gesture-only quick-action bar — zero visible controls, single/double/long-press only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300">
                <a:solidFill>
                  <a:srgbClr val="E6E6E6"/>
                </a:solidFill>
                <a:latin typeface="Calibri"/>
              </a:rPr>
              <a:t>Open Food Facts integration with country-filter + LRU cache + product quality scoring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300">
                <a:solidFill>
                  <a:srgbClr val="E6E6E6"/>
                </a:solidFill>
                <a:latin typeface="Calibri"/>
              </a:rPr>
              <a:t>Weather-aware water goal — hydration scales with local temperature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300">
                <a:solidFill>
                  <a:srgbClr val="E6E6E6"/>
                </a:solidFill>
                <a:latin typeface="Calibri"/>
              </a:rPr>
              <a:t>Evidence-cited recommendations — every tip carries its source (WHO / EFSA / Lancet / Paluch)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300">
                <a:solidFill>
                  <a:srgbClr val="E6E6E6"/>
                </a:solidFill>
                <a:latin typeface="Calibri"/>
              </a:rPr>
              <a:t>Red gaming bezel via compositing trick — bg PNG peeks around a black middle mask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300">
                <a:solidFill>
                  <a:srgbClr val="E6E6E6"/>
                </a:solidFill>
                <a:latin typeface="Calibri"/>
              </a:rPr>
              <a:t>Three themes = three full Compose skins, not just palette swaps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37160" cy="548640"/>
          </a:xfrm>
          <a:prstGeom prst="rect">
            <a:avLst/>
          </a:prstGeom>
          <a:solidFill>
            <a:srgbClr val="E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6E6E6"/>
                </a:solidFill>
                <a:latin typeface="Calibri"/>
              </a:rPr>
              <a:t>Privacy &amp; permissions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3333"/>
                </a:solidFill>
                <a:latin typeface="Calibri"/>
              </a:rPr>
              <a:t>OFFLINE-FIRST · NO ACCOUNT · NO TELEMETRY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828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UN_SIGNED  ·  OFFLINE-FIRST HEALTH &amp; PRODUCTIVITY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Calibr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3333"/>
                </a:solidFill>
                <a:latin typeface="Calibri"/>
              </a:rPr>
              <a:t>What leaves the device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300">
                <a:solidFill>
                  <a:srgbClr val="E6E6E6"/>
                </a:solidFill>
                <a:latin typeface="Calibri"/>
              </a:rPr>
              <a:t>Open Food Facts product lookup (opt-in via junk log)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300">
                <a:solidFill>
                  <a:srgbClr val="E6E6E6"/>
                </a:solidFill>
                <a:latin typeface="Calibri"/>
              </a:rPr>
              <a:t>Weather API for temperature (opt-in via location permission)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300">
                <a:solidFill>
                  <a:srgbClr val="E6E6E6"/>
                </a:solidFill>
                <a:latin typeface="Calibri"/>
              </a:rPr>
              <a:t>GitHub version.json for update checks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300">
                <a:solidFill>
                  <a:srgbClr val="E6E6E6"/>
                </a:solidFill>
                <a:latin typeface="Calibri"/>
              </a:rPr>
              <a:t>That's it — no analytics, no crash reporter, no ad SDKs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3333"/>
                </a:solidFill>
                <a:latin typeface="Calibri"/>
              </a:rPr>
              <a:t>Permissions declared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17720"/>
            <a:ext cx="110642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300">
                <a:solidFill>
                  <a:srgbClr val="E6E6E6"/>
                </a:solidFill>
                <a:latin typeface="Calibri"/>
              </a:rPr>
              <a:t>Internet + coarse location  (weather + OFF)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300">
                <a:solidFill>
                  <a:srgbClr val="E6E6E6"/>
                </a:solidFill>
                <a:latin typeface="Calibri"/>
              </a:rPr>
              <a:t>Vibration  (haptic feedback)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300">
                <a:solidFill>
                  <a:srgbClr val="E6E6E6"/>
                </a:solidFill>
                <a:latin typeface="Calibri"/>
              </a:rPr>
              <a:t>Calendar read/write + exact alarms  (task sync)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300">
                <a:solidFill>
                  <a:srgbClr val="E6E6E6"/>
                </a:solidFill>
                <a:latin typeface="Calibri"/>
              </a:rPr>
              <a:t>Activity recognition + Health Connect  (steps, distance, calories)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3333"/>
                </a:solidFill>
                <a:latin typeface="Consolas"/>
              </a:rPr>
              <a:t>▸  </a:t>
            </a:r>
            <a:r>
              <a:rPr sz="1300">
                <a:solidFill>
                  <a:srgbClr val="E6E6E6"/>
                </a:solidFill>
                <a:latin typeface="Calibri"/>
              </a:rPr>
              <a:t>Post notifications  (reminders)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37160" cy="548640"/>
          </a:xfrm>
          <a:prstGeom prst="rect">
            <a:avLst/>
          </a:prstGeom>
          <a:solidFill>
            <a:srgbClr val="E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6E6E6"/>
                </a:solidFill>
                <a:latin typeface="Calibr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3333"/>
                </a:solidFill>
                <a:latin typeface="Calibri"/>
              </a:rPr>
              <a:t>KOTLIN · COMPOSE · NO HEAVY DEPS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828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UN_SIGNED  ·  OFFLINE-FIRST HEALTH &amp; PRODUCTIVITY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Calibr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3333"/>
                </a:solidFill>
                <a:latin typeface="Calibri"/>
              </a:rPr>
              <a:t>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828800"/>
            <a:ext cx="8869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6E6E6"/>
                </a:solidFill>
                <a:latin typeface="Calibri"/>
              </a:rPr>
              <a:t>Kotlin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774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3333"/>
                </a:solidFill>
                <a:latin typeface="Calibri"/>
              </a:rPr>
              <a:t>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377440"/>
            <a:ext cx="8869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6E6E6"/>
                </a:solidFill>
                <a:latin typeface="Calibri"/>
              </a:rPr>
              <a:t>Jetpack Compose + XML ConstraintLayout (hybrid)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260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3333"/>
                </a:solidFill>
                <a:latin typeface="Calibri"/>
              </a:rPr>
              <a:t>MIN SDK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26080"/>
            <a:ext cx="8869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6E6E6"/>
                </a:solidFill>
                <a:latin typeface="Calibri"/>
              </a:rPr>
              <a:t>Android with Health Connect fallback to step sensor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747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3333"/>
                </a:solidFill>
                <a:latin typeface="Calibri"/>
              </a:rPr>
              <a:t>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474720"/>
            <a:ext cx="8869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6E6E6"/>
                </a:solidFill>
                <a:latin typeface="Calibri"/>
              </a:rPr>
              <a:t>Gson-serialised JSON files under /fitdata/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233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3333"/>
                </a:solidFill>
                <a:latin typeface="Calibri"/>
              </a:rPr>
              <a:t>FONTS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023360"/>
            <a:ext cx="8869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6E6E6"/>
                </a:solidFill>
                <a:latin typeface="Calibri"/>
              </a:rPr>
              <a:t>Bebas Neue (titles), Jersey 10 Charted (data/clock), Nokia Kokia (data)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3333"/>
                </a:solidFill>
                <a:latin typeface="Calibri"/>
              </a:rPr>
              <a:t>NETWORK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572000"/>
            <a:ext cx="8869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6E6E6"/>
                </a:solidFill>
                <a:latin typeface="Calibri"/>
              </a:rPr>
              <a:t>3 endpoints only — OFF, weather, GitHub version.json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1206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3333"/>
                </a:solidFill>
                <a:latin typeface="Calibri"/>
              </a:rPr>
              <a:t>UPDATES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120640"/>
            <a:ext cx="8869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6E6E6"/>
                </a:solidFill>
                <a:latin typeface="Calibri"/>
              </a:rPr>
              <a:t>GitHub-hosted version.json → DownloadManager → FileProvider install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692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3333"/>
                </a:solidFill>
                <a:latin typeface="Calibri"/>
              </a:rPr>
              <a:t>EXPORTS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5669280"/>
            <a:ext cx="8869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6E6E6"/>
                </a:solidFill>
                <a:latin typeface="Calibri"/>
              </a:rPr>
              <a:t>CSV, JSON, and PPTX (hand-rolled OOXML)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37160" cy="548640"/>
          </a:xfrm>
          <a:prstGeom prst="rect">
            <a:avLst/>
          </a:prstGeom>
          <a:solidFill>
            <a:srgbClr val="E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6E6E6"/>
                </a:solidFill>
                <a:latin typeface="Calibri"/>
              </a:rPr>
              <a:t>Why it's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3333"/>
                </a:solidFill>
                <a:latin typeface="Calibri"/>
              </a:rPr>
              <a:t>THREE THINGS MOST TRACKERS GET WRONG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828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UN_SIGNED  ·  OFFLINE-FIRST HEALTH &amp; PRODUCTIVITY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Calibr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3333"/>
                </a:solidFill>
                <a:latin typeface="Calibri"/>
              </a:rPr>
              <a:t>NO CLOUD, NO ACCOUNT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6E6E6"/>
                </a:solidFill>
                <a:latin typeface="Calibri"/>
              </a:rPr>
              <a:t>Your data lives in the app's private folder. Delete the app, delete the data. Zero servers to breach.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8A00"/>
                </a:solidFill>
                <a:latin typeface="Calibri"/>
              </a:rPr>
              <a:t>EVIDENCE, NOT VIBES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9476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6E6E6"/>
                </a:solidFill>
                <a:latin typeface="Calibri"/>
              </a:rPr>
              <a:t>Every recommendation and every 'good/concern/at-risk' band cites its source. WHO, EFSA, Lancet, IOM, Paluch — visible in the UI.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B454"/>
                </a:solidFill>
                <a:latin typeface="Calibri"/>
              </a:rPr>
              <a:t>GESTURES, NOT MENUS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0352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6E6E6"/>
                </a:solidFill>
                <a:latin typeface="Calibri"/>
              </a:rPr>
              <a:t>The home bar has no visible buttons. Tap, double-tap, long-press. Fewer taps to log, faster to disappear.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2191695" cy="45720"/>
          </a:xfrm>
          <a:prstGeom prst="rect">
            <a:avLst/>
          </a:prstGeom>
          <a:solidFill>
            <a:srgbClr val="E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E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3333"/>
                </a:solidFill>
                <a:latin typeface="Calibri"/>
              </a:rPr>
              <a:t>UN_SIGNED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E6E6E6"/>
                </a:solidFill>
                <a:latin typeface="Calibri"/>
              </a:rPr>
              <a:t>Track everything.</a:t>
            </a:r>
          </a:p>
          <a:p>
            <a:pPr algn="l"/>
            <a:r>
              <a:rPr sz="5400" b="1" i="0">
                <a:solidFill>
                  <a:srgbClr val="E6E6E6"/>
                </a:solidFill>
                <a:latin typeface="Calibri"/>
              </a:rPr>
              <a:t>See where you stand.</a:t>
            </a:r>
          </a:p>
          <a:p>
            <a:pPr algn="l"/>
            <a:r>
              <a:rPr sz="5400" b="1" i="0">
                <a:solidFill>
                  <a:srgbClr val="E6E6E6"/>
                </a:solidFill>
                <a:latin typeface="Calibri"/>
              </a:rPr>
              <a:t>Own your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B0B0B0"/>
                </a:solidFill>
                <a:latin typeface="Calibri"/>
              </a:rPr>
              <a:t>Three themes  ·  19 languages  ·  0 accounts 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88888"/>
                </a:solidFill>
                <a:latin typeface="Calibri"/>
              </a:rPr>
              <a:t>com.example.un_signed  ·  Android · Kotlin + Compose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